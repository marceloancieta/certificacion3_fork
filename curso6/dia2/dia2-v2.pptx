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Validación continua · IA · datos · madurez TMMi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Certificación 6 · Día 2 · Slide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Certificación 6 · Día 2 autónomo · 4 horas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Reto 2 + estrategia organizacional (no requiere Docker del Día 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Madurez, Gobernanza y Estrategia de Calidad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Agenda del Día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Certificación 6 · Día 2 · Slide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Bloque 1: Testing IA/ML + pipelines de datos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Bloque 2: Reto 2 práctico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Bloque 3: RPA · simulación de usuarios · gamificación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Bloque 4: TMMi + cierre y Q&amp;A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Madurez, Gobernanza y Estrategia de Calidad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Por qué testing de IA es distinto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Certificación 6 · Día 2 · Slide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No hay "assert igual a 200" suficiente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Modelos: precisión, sesgo, fairness, drift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Datos malos → modelo "correcto" que decide mal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Ejemplo: modelo de crédito con accuracy 78% pero aprueba 80% del norte y 55% del sur = sesgo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Madurez, Gobernanza y Estrategia de Calidad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Ejemplo concreto: accuracy engañosa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Certificación 6 · Día 2 · Slide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Sistema de recomendaciones pre-pandemia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Accuracy histórica: alta. Relevancia actual: cero (drift)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assert accuracy &gt; 0.75 pasaría verde mientras discrimina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Lección: un solo número no cuenta la historia completa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Madurez, Gobernanza y Estrategia de Calidad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Los tres ejes de validación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Certificación 6 · Día 2 · Slide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Eje — Pregunta — Analogía QA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Precisión — ¿Acertamos lo que importa? — % tests que detectan bugs reales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Sesgo / fairness — ¿El error castiga a un grupo? — Suite que solo cubre happy path de un perfil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Drift — ¿Datos de hoy ≠ entrenamiento? — Tests contra versión vieja del schema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Madurez, Gobernanza y Estrategia de Calidad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Sesgo y fairness: conceptos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Certificación 6 · Día 2 · Slide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Concepto — Definición — Ejemplo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Demographic parity — Grupos reciben decisión positiva con igual frecuencia — Aprobación ~igual entre regiones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Equal opportunity — Misma tasa de verdaderos positivos entre grupos — Si sos buen pagador, te aprueban sin importar región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Disparate impact — Ratio &lt; 0.8 entre tasas (regla 4/5) — 55%/80% = 0.69 → señal de problema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En el lab: max region gap ≤ 0.25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Madurez, Gobernanza y Estrategia de Calidad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Drift: tu modelo se vence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Certificación 6 · Día 2 · Slide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Tipo — Qué cambió — Ejemplo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Data drift — Distribución de entrada — Ingresos +15% por inflación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Concept drift — Relación entrada→resultado — Lo que predecía "buen pagador" ya no aplica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Label drift — Distribución de la etiqueta — Antes 30% aprobados, ahora 60%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Métrica del lab: PSI (Population Stability Index)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PSI &lt; 0.10 = ok · 0.10–0.25 = investigar · &gt; 0.25 = reentrenar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Madurez, Gobernanza y Estrategia de Calidad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Herramientas ML: mapa comparativo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Certificación 6 · Día 2 · Slide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DeepChecks — Suites validación ML (tabular/NLP/visión) — Open source + enterprise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MLflow — Tracking experimentos, registro de modelos — Open source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DVC — Versiona datasets y modelos pesados — Open source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SageMaker Model Monitor — Drift en producción (cloud AWS) — AWS pricing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Evidently AI — Reports HTML de drift y calidad — Open source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Whylogs — Profiling estadístico ligero — Open source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En el lab: MLflow + checks custom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Madurez, Gobernanza y Estrategia de Calidad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Testing de pipelines ETL/ELT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Certificación 6 · Día 2 · Slide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Categoría — Chequeo — Ejemplo de fallo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Completitud — Nulos — email vacío en 5%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Unicidad — Duplicados — customer_id repetido → doble cobro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Consistencia — Rangos — age = -3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Validez — Formato — email sin @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Integridad ref. — FK válidas — region = "unknown_zone"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Frescura — Datos actualizados — Última carga hace 72h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Garbage in, garbage out — si ETL ensucia, modelo hereda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Madurez, Gobernanza y Estrategia de Calidad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Herramientas de validación de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Certificación 6 · Día 2 · Slide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Great Expectations — Expectativas declarativas — Pipelines Spark/Pandas, CI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Deequ — Constraints sobre Spark — Ecosistema AWS/Spark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Soda Core — Checks en YAML — DBA/analytics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DBT tests — Assertions en pipeline — Si ya usan DBT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En el lab: GE (API real) + suite custom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Madurez, Gobernanza y Estrategia de Calidad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Plan de testing del Reto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Certificación 6 · Día 2 · Slide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Regla: si paso 1 falla, NO pasar al 2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Datos rotos + modelo = decisiones basura con confianza alta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Código: 1. Validar datos (ETL) → 2. Entrenar modelo → 3. Precisión | → 4. Fairness → 5. Drift PSI → 6. CI + MLflow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Madurez, Gobernanza y Estrategia de Calidad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Integración CI/CD para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Certificación 6 · Día 2 · Slide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El plan vive en el pipeline, no en una laptop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Rojo en CI = no merge del cambio de datos/modelo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Científico cambia threshold sin querer → CI lo atrapa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"Si no corre en CI, no es gobernanza — es hobby"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Madurez, Gobernanza y Estrategia de Calidad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Preview del Reto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Certificación 6 · Día 2 · Slide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5 tests en verde · reporte JSON · MLflow local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Código: uv sync | uv run pytest -v | uv run python -m src.run_pipeline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Madurez, Gobernanza y Estrategia de Calidad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Cierre Bloque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Certificación 6 · Día 2 · Slide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Datos + modelo + CI = trinomio del Reto 2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Descanso y manos a la obra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Madurez, Gobernanza y Estrategia de Calidad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Reto 2 — Plan de testing ML +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Certificación 6 · Día 2 · Slide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Ver guía del instructor para el relato completo.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Madurez, Gobernanza y Estrategia de Calidad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Enunciado del Reto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Certificación 6 · Día 2 · Slide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precisión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sesgo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drift de datos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integridad del pipeline ETL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Madurez, Gobernanza y Estrategia de Calidad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Estructura del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Certificación 6 · Día 2 · Slide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Ruta — Para qué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src/generate_data.py — Datasets sintéticos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src/data_quality.py — Suite ETL (patrón GE)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src/model_checks.py — Precisión + fairness + drift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src/run_pipeline.py — Orquestador end-to-end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tests/ — Tests automatizados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.github/workflows/quality.yml — CI de ejemplo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Madurez, Gobernanza y Estrategia de Calidad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Paso 1: entorno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Certificación 6 · Día 2 · Slide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macOS: brew install uv o instalador Astral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Windows: instalador PowerShell de uv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Python 3.11+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Código: cd proyectos/ml-data-quality-lab | uv sync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Madurez, Gobernanza y Estrategia de Calidad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Paso 2: suite ETL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Certificación 6 · Día 2 · Slide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Limpio pasa · sucio falla (nulos/duplicados)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Expectativas: not_null, unique, in_set, between, regex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Dataset sucio: 5 nulos email, 3 nulos age, 2 duplicados, 1 región inválida, 1 ingreso negativo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Código: uv run pytest tests/test_data_quality.py -v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Madurez, Gobernanza y Estrategia de Calidad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Paso 3: Great Expectations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Certificación 6 · Día 2 · Slide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Suite ephemeral (sin carpeta gx/, en memoria)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Contrato de datos ejecutable con API real de GE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Expectativas: NotBeNull, BeUnique, BeBetween, BeInSet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Código: uv run pytest tests/test_gx_integration.py -v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Madurez, Gobernanza y Estrategia de Calidad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Paso 4: modelo + MLflow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Certificación 6 · Día 2 · Slide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Precisión · gap por región · PSI de income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Tracking en SQLite local (mlruns/mlflow.db)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Reporte: data/pipeline_report.json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Código: uv run pytest tests/test_model_checks.py -v | uv run python -m src.run_pipeline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Madurez, Gobernanza y Estrategia de Calidad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Umbrales del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Certificación 6 · Día 2 · Slide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Chequeo — Umbral — Si falla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Precisión — ≥ 0.70 — No deployar modelo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Gap fairness — ≤ 0.25 — Investigar features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PSI drift — ≤ 0.25 — Reentrenar con datos frescos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Madurez, Gobernanza y Estrategia de Calidad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Paso 5: CI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Certificación 6 · Día 2 · Slide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Abrir .github/workflows/quality.yml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Mismos comandos que en local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Push/PR → uv sync → pytest → run_pipeline → artifact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"Si no corre en CI, no es gobernanza"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Madurez, Gobernanza y Estrategia de Calidad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Debrief Reto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Certificación 6 · Día 2 · Slide 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¿Qué fallaría primero en su empresa: datos o modelo?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¿Quién es dueño del umbral de drift?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Si solo un gate en CI: ¿ETL o modelo?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Puente al Bloque 3: procesos de negocio y RPA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Madurez, Gobernanza y Estrategia de Calidad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RPA · simulación de usuarios · gamificación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Certificación 6 · Día 2 · Slide 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Ver guía del instructor para el relato completo.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Madurez, Gobernanza y Estrategia de Calidad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RPA: qué es y qué no 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Certificación 6 · Día 2 · Slide 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Robotic Process Automation: bots que interactúan con UIs como un humano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Para testing: complementa donde el proceso completo es el SUT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NO reemplaza API/UI testing cuando hay endpoints disponibles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Es para cuando el sistema bajo prueba cruza 3-4 aplicaciones sin API unificada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Madurez, Gobernanza y Estrategia de Calidad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¿Cuándo RPA para testing?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Certificación 6 · Día 2 · Slide 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Escenario — Por qué RPA — Por qué NO API testing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Proceso cruza SAP + Excel + email + portal — No hay API unificada — 4 APIs distintas (si existen)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Backoffice legacy solo con UI — Solo UI disponible — No expone API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Flujo contable mensual — Proceso humano → bot replica — No hay endpoint "cerrar mes"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Smoke de ERP post-deploy — Validación visual — API no cubre validaciones de UI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Madurez, Gobernanza y Estrategia de Calidad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¿Cuándo NO usar RPA?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Certificación 6 · Día 2 · Slide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Cuando existe una API testeable → usá API testing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UI cambia frecuentemente sin valor → tests frágiles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Solo validar regla de negocio → unit test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Criterio: ¿el valor está en el proceso E2E o en un endpoint?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Madurez, Gobernanza y Estrategia de Calidad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Ecosistema RPA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Certificación 6 · Día 2 · Slide 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UiPath — Community gratis, buen recorder — Pesado, licencias enterprise caras — Procesos multi-sistema complejos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Power Automate — Integrado con M365, bajo costo — Menos flexible fuera de Microsoft — Orgs 100% Microsoft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Automation Anywhere — Cloud-native, escalable — Menos intuitivo — Muchos bots en paralelo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Robot Framework — Open source, extensible — Requiere programación — Equipos técnicos con control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Criterio: stack IT + licencias + observabilidad + skills del equipo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Madurez, Gobernanza y Estrategia de Calidad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Caso 1: alta de cliente (banco)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Certificación 6 · Día 2 · Slide 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Clave: si el bot "pasa" sin evidencia, no hay auditoría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Madurez, Gobernanza y Estrategia de Calidad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Caso 2: conciliación de pagos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Certificación 6 · Día 2 · Slide 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Clave: la validación es en los datos, el bot es el vehículo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Madurez, Gobernanza y Estrategia de Calidad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Caso 3: smoke post-deploy nocturno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Certificación 6 · Día 2 · Slide 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Sin personas de madrugada, sin riesgo de "nadie lo probó"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Madurez, Gobernanza y Estrategia de Calidad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Simulación de usuarios con 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Certificación 6 · Día 2 · Slide 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Nivel — Técnica — Qué encuentra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1 — Script fijo — Bugs en happy path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2 — Exploración guiada + datos random — Bugs de boundary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3 — Model-based (máquina de estados) — Bugs de flujo/estado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4 — Reinforcement Learning — Bugs que nadie imaginaría probar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Código: Script fijo → Caminos probables → Política aprendida (RL)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Madurez, Gobernanza y Estrategia de Calidad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RL aplicado a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Certificación 6 · Día 2 · Slide 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Estado = pantalla actual + DOM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Acción = click, fill, scroll, navigate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Recompensa = encontrar crash / error 500 / estado inconsistente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Política = agente aprende qué secuencias maximizan bugs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Requisito: telemetría ética + anonimización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Emergente: LLMs que generan escenarios a partir de specs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Madurez, Gobernanza y Estrategia de Calidad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Gamificación: por qué funciona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Certificación 6 · Día 2 · Slide 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Tradicional — Gamificado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PDF de 40 páginas — Reto con score automático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"Lean este estándar" — "Bajen flake bajo 0.08 en 20 min"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Examen múltiple opción — Lab ejecutable con pytest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Feedback en 2 semanas — Feedback en 2 segundos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Los Retos 1 y 2 ya son gamificación seria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Madurez, Gobernanza y Estrategia de Calidad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Plataformas de referencia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Certificación 6 · Día 2 · Slide 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Test Automation University — Selenium, API, visual AI — Sí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Codecademy — Python, SQL interactivo — Freemium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Ministry of Testing — Comunidad + cursos QA — Membresía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Killercoda — Labs en browser, entornos reales — Algunos gratis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5 reglas de un buen reto: objetivo medible, score auto, feedback inmediato, dificultad progresiva, contexto realista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Madurez, Gobernanza y Estrategia de Calidad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Mini-caso integrado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Certificación 6 · Día 2 · Slide 37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Pregunta: ¿dónde pondrían el primer control si solo pueden elegir uno?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Variantes: ¿y si el bot ingresa datos mal? ¿Si GE aprueba pero hay drift?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Código: RPA (carga) → GE (ETL) → ML (decisión) → Dashboard (alerta)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Madurez, Gobernanza y Estrategia de Calidad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Cierre Bloque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Certificación 6 · Día 2 · Slide 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Personas + procesos + datos + modelos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RPA: complemento donde el proceso E2E es el SUT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RL/simulación: el futuro del testing exploratorio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Falta TMMi: el marco que ordena la evolución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Madurez, Gobernanza y Estrategia de Calidad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TMMi · madurez · cierre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Certificación 6 · Día 2 · Slide 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Ver guía del instructor para el relato completo.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Madurez, Gobernanza y Estrategia de Calidad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¿Qué es TMMi?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Certificación 6 · Día 2 · Slide 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Test Management Maturity Model Integration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No es herramienta: es mapa de madurez organizacional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Analogía: CMMI para desarrollo, TMMi para testing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Para: dejar de opinar y empezar a medir nivel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Madurez, Gobernanza y Estrategia de Calidad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Los 5 niveles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Certificación 6 · Día 2 · Slide 41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Nivel — Nombre — Señales típicas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1 — Inicial — "Lo pruebo yo antes de subir"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2 — Gestionado — Test plan existe, no siempre se sigue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3 — Definido — Todos usan mismo framework y proceso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4 — Medido — Dashboards con flake/leakage/coverage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5 — Optimizado — CI gates + feedback loops automáticos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Día 1 → nivel 4 · Retos CI → nivel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Madurez, Gobernanza y Estrategia de Calidad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Prácticas por nivel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Certificación 6 · Día 2 · Slide 42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Nivel — Áreas de proceso — Implementación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2 — Política, planificación — Documento + plan por release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3 — Organización, formación, ciclo — Roles, onboarding, testing integrado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4 — Medición, evaluación — Métricas con umbral, evaluación cuantitativa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5 — Prevención, optimización — Root cause analysis, feedback auto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Madurez, Gobernanza y Estrategia de Calidad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Auto-evaluación rápida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Certificación 6 · Día 2 · Slide 43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Mayoría 1-2: priorizar política + herramientas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Mayoría 3: priorizar métricas + observabilidad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Mayoría 4-5: priorizar prevención + optimización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Madurez, Gobernanza y Estrategia de Calidad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Marcos complementarios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Certificación 6 · Día 2 · Slide 44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Marco — Enfoque — Relación con TMMi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CMMI — Desarrollo — TMMi es el complemento testing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ISO 29119 — Estándar de testing — Define procesos; TMMi mide madurez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ISTQB — Certificación individual — Personas; TMMi evalúa organización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SAFe — Agilidad escalada — Testing embebido; TMMi audita calidad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Madurez, Gobernanza y Estrategia de Calidad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Dashboards como herramienta de madurez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Certificación 6 · Día 2 · Slide 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Lo que construimos en Día 1 = nivel 4 observable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Código: Nivel 1-2: sin métricas compartidas | Nivel 3:   métricas en silos | Nivel 4:   dashboard centralizado (Prometheus + Grafana) | Nivel 5:   dashboard + alertas + acciones automáticas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Madurez, Gobernanza y Estrategia de Calidad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Estrategia sostenible (cadena completa)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Certificación 6 · Día 2 · Slide 46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# — Componente — Día — Nivel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1 — Políticas — 1 — 2-3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2 — Métricas con umbral — 1 — 4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3 — Observabilidad — 1 — 4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4 — Datos + ML validados — 2 — 4-5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5 — RPA + gamificación — 2 — 3-5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6 — Madurez TMMi — 2 — meta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Madurez, Gobernanza y Estrategia de Calidad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Tablero de decisión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Certificación 6 · Día 2 · Slide 47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CI rojo por flake — Bajar flake rate — Dashboard + quarantine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Bugs en prod — Leakage + riesgo — Cobertura + alertas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Modelo injusto — Fairness + datos — GE + fairness checks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Proceso manual frágil — RPA — UiPath / Power Automate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Nadie sabe el estado — Dashboard — Prometheus + Grafana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Datos sucios al modelo — Gate ETL en CI — GE + pipeline gate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Equipo no mejora — Gamificación + TMMi — Retos + auto-evaluación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Madurez, Gobernanza y Estrategia de Calidad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Consolidación Reto 1 + Reto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Certificación 6 · Día 2 · Slide 48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Reto 1: calidad del sistema de pruebas (observable)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Reto 2: calidad de datos y modelo (validada en CI)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Juntos: gobernanza de punta a punta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Madurez, Gobernanza y Estrategia de Calidad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Casos y dudas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Certificación 6 · Día 2 · Slide 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Discutir situaciones reales del grupo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Regla: toda respuesta anclada a métrica, política o evidencia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Casos provocadores si la sala está callada: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Madurez, Gobernanza y Estrategia de Calidad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Checklist final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Certificación 6 · Día 2 · Slide 50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[ ] Sé explicar flake, leakage y effectiveness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[ ] Levanté el dashboard QA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[ ] Corrí el lab de datos/ML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[ ] Ubico RPA, simulación y gamificación en la estrategia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[ ] Relaciono todo con un nivel TMMi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Madurez, Gobernanza y Estrategia de Calidad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Cierre y siguientes pasos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Certificación 6 · Día 2 · Slide 51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Lleven un umbral y un dueño a su trabajo el lunes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Publiquen al menos una métrica donde todo el equipo la vea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Madurez no es un certificado: es un hábito medible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Madurez, Gobernanza y Estrategia de Calidad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Certificación 6 — cierre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Certificación 6 · Día 2 · Slide 52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Materiales en curso6/dia2/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Proyecto en proyectos/ml-data-quality-lab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Gobiernen con evidencia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Madurez, Gobernanza y Estrategia de Calidad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